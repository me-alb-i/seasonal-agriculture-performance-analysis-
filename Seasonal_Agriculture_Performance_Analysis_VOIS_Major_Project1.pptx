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9" d="100"/>
          <a:sy n="89" d="100"/>
        </p:scale>
        <p:origin x="370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9/5/2026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9/5/2026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10215" y="4462432"/>
            <a:ext cx="3400089" cy="861497"/>
          </a:xfrm>
        </p:spPr>
        <p:txBody>
          <a:bodyPr vert="horz"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sz="2000" b="1" dirty="0"/>
              <a:t>Albi Jose</a:t>
            </a:r>
            <a:br>
              <a:rPr dirty="0"/>
            </a:br>
            <a:r>
              <a:rPr sz="2000" b="1" dirty="0"/>
              <a:t>UKF College of Engineering &amp; Technology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364" y="2844750"/>
            <a:ext cx="4998720" cy="743448"/>
          </a:xfrm>
        </p:spPr>
        <p:txBody>
          <a:bodyPr wrap="square">
            <a:noAutofit/>
          </a:bodyPr>
          <a:lstStyle/>
          <a:p>
            <a:pPr algn="l"/>
            <a:r>
              <a:rPr sz="3600" b="1" dirty="0"/>
              <a:t>Seasonal Agriculture Performance Analysis</a:t>
            </a:r>
            <a:endParaRPr lang="en-IN" sz="36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000" b="1"/>
              <a:t>Major Project • Data Analytics</a:t>
            </a:r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4701395" y="5241159"/>
            <a:ext cx="48049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1600" b="1" dirty="0"/>
              <a:t>AICTE STU ID : STU6a6859e7633581785223655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5958" y="1309760"/>
            <a:ext cx="5949130" cy="4885483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>
              <a:spcAft>
                <a:spcPts val="800"/>
              </a:spcAft>
            </a:pPr>
            <a:r>
              <a:rPr lang="en-US" dirty="0"/>
              <a:t>Agricultural performance can vary across seasons due to environmental conditions, farming practices, resource availability and market conditions.</a:t>
            </a:r>
          </a:p>
          <a:p>
            <a:pPr>
              <a:spcAft>
                <a:spcPts val="800"/>
              </a:spcAft>
            </a:pPr>
            <a:r>
              <a:rPr lang="en-US" dirty="0"/>
              <a:t>Raw agricultural data does not clearly show how performance changes between Kharif, Rabi and Zaid seasons.</a:t>
            </a:r>
          </a:p>
          <a:p>
            <a:pPr>
              <a:spcAft>
                <a:spcPts val="800"/>
              </a:spcAft>
            </a:pPr>
            <a:r>
              <a:rPr lang="en-US" dirty="0"/>
              <a:t>The project analyzes the dataset to identify meaningful seasonal patterns, relationships and variations in agricultural performance.</a:t>
            </a:r>
          </a:p>
          <a:p>
            <a:pPr>
              <a:spcAft>
                <a:spcPts val="800"/>
              </a:spcAft>
            </a:pPr>
            <a:r>
              <a:rPr lang="en-US" dirty="0"/>
              <a:t>The findings can support evidence-based interpretation and better seasonal agricultural planning.</a:t>
            </a:r>
          </a:p>
          <a:p>
            <a:pPr marL="0" indent="0" algn="l">
              <a:lnSpc>
                <a:spcPct val="150000"/>
              </a:lnSpc>
              <a:buNone/>
            </a:pPr>
            <a:endParaRPr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 wrap="square">
            <a:normAutofit/>
          </a:bodyPr>
          <a:lstStyle/>
          <a:p>
            <a:pPr algn="l"/>
            <a:r>
              <a:rPr sz="2500" b="1" dirty="0"/>
              <a:t>PROBLEM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 wrap="square">
            <a:normAutofit fontScale="90000"/>
          </a:bodyPr>
          <a:lstStyle/>
          <a:p>
            <a:pPr algn="l"/>
            <a:r>
              <a:rPr sz="2800" dirty="0"/>
              <a:t>PROJECT DESCRIPTION</a:t>
            </a:r>
            <a:br>
              <a:rPr dirty="0"/>
            </a:br>
            <a:br>
              <a:rPr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3F1AEE6-C483-79EF-44F0-23DD1B5452D5}"/>
              </a:ext>
            </a:extLst>
          </p:cNvPr>
          <p:cNvSpPr txBox="1"/>
          <p:nvPr/>
        </p:nvSpPr>
        <p:spPr>
          <a:xfrm>
            <a:off x="675957" y="1505396"/>
            <a:ext cx="610318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0" dirty="0"/>
              <a:t>The dataset contains 4,000 farm-level observations and 28 variables covering crops, seasons, geographical areas, environmental conditions, farming practices, resource usage and economic outcomes.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br>
              <a:rPr lang="en-IN" sz="2000" dirty="0"/>
            </a:br>
            <a:r>
              <a:rPr lang="en-IN" sz="2000" b="0" dirty="0"/>
              <a:t>The project follows a simple data analytics workflow:</a:t>
            </a:r>
          </a:p>
          <a:p>
            <a:br>
              <a:rPr lang="en-IN" sz="2000" dirty="0"/>
            </a:br>
            <a:r>
              <a:rPr lang="en-IN" sz="2000" b="0" dirty="0"/>
              <a:t>Data Loading → Data Cleaning → Exploratory Analysis → Statistical Analysis → Visualization → Interpretation</a:t>
            </a:r>
            <a:r>
              <a:rPr lang="en-IN" sz="1700" b="0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 wrap="square">
            <a:normAutofit/>
          </a:bodyPr>
          <a:lstStyle/>
          <a:p>
            <a:pPr algn="l"/>
            <a:r>
              <a:rPr sz="2500" b="1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14400" y="1417320"/>
            <a:ext cx="5822830" cy="3580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sz="2000" dirty="0"/>
              <a:t>Farmers — compare seasonal crop performance and resource usage.</a:t>
            </a:r>
            <a:endParaRPr lang="en-IN" sz="2000" dirty="0"/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sz="2000" dirty="0"/>
              <a:t>Agricultural planners — understand seasonal and regional variations.</a:t>
            </a:r>
            <a:endParaRPr lang="en-IN" sz="2000" dirty="0"/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sz="2000" dirty="0"/>
              <a:t>Agricultural b</a:t>
            </a:r>
            <a:r>
              <a:rPr lang="en-IN" sz="2000" dirty="0"/>
              <a:t>u</a:t>
            </a:r>
            <a:r>
              <a:rPr sz="2000" dirty="0" err="1"/>
              <a:t>sinesses</a:t>
            </a:r>
            <a:r>
              <a:rPr sz="2000" dirty="0"/>
              <a:t> — evaluate crop profitability and production patterns.</a:t>
            </a:r>
            <a:endParaRPr lang="en-IN" sz="2000" dirty="0"/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sz="2000" dirty="0"/>
              <a:t>Data analysts and researchers — explore relationships within agricultural data.</a:t>
            </a:r>
            <a:endParaRPr lang="en-IN" sz="2000" dirty="0"/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sz="2000" dirty="0"/>
              <a:t>Students and researchers — use the project as a practical Data Analytics case study.</a:t>
            </a:r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37035" y="972845"/>
            <a:ext cx="7167018" cy="4854270"/>
          </a:xfrm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lang="en-IN" sz="1900" dirty="0"/>
              <a:t>Python — programming and data analysis</a:t>
            </a:r>
          </a:p>
          <a:p>
            <a:pPr>
              <a:spcAft>
                <a:spcPts val="800"/>
              </a:spcAft>
            </a:pPr>
            <a:r>
              <a:rPr lang="en-IN" sz="1900" dirty="0"/>
              <a:t>Pandas — data loading, cleaning, grouping and analysis</a:t>
            </a:r>
          </a:p>
          <a:p>
            <a:pPr>
              <a:spcAft>
                <a:spcPts val="800"/>
              </a:spcAft>
            </a:pPr>
            <a:r>
              <a:rPr lang="en-IN" sz="1900" dirty="0"/>
              <a:t>NumPy — numerical processing</a:t>
            </a:r>
          </a:p>
          <a:p>
            <a:pPr>
              <a:spcAft>
                <a:spcPts val="800"/>
              </a:spcAft>
            </a:pPr>
            <a:r>
              <a:rPr lang="en-IN" sz="1900" dirty="0"/>
              <a:t>Matplotlib — data visualization</a:t>
            </a:r>
          </a:p>
          <a:p>
            <a:pPr>
              <a:spcAft>
                <a:spcPts val="800"/>
              </a:spcAft>
            </a:pPr>
            <a:r>
              <a:rPr lang="en-IN" sz="1900" dirty="0"/>
              <a:t>Seaborn — statistical visualization</a:t>
            </a:r>
          </a:p>
          <a:p>
            <a:pPr>
              <a:spcAft>
                <a:spcPts val="800"/>
              </a:spcAft>
            </a:pPr>
            <a:r>
              <a:rPr lang="en-IN" sz="1900" dirty="0"/>
              <a:t>Google </a:t>
            </a:r>
            <a:r>
              <a:rPr lang="en-IN" sz="1900" dirty="0" err="1"/>
              <a:t>Colab</a:t>
            </a:r>
            <a:r>
              <a:rPr lang="en-IN" sz="1900" dirty="0"/>
              <a:t> — notebook development and execution</a:t>
            </a:r>
          </a:p>
          <a:p>
            <a:pPr>
              <a:spcAft>
                <a:spcPts val="800"/>
              </a:spcAft>
            </a:pPr>
            <a:r>
              <a:rPr lang="en-IN" sz="1900" dirty="0"/>
              <a:t>CSV — Seasonal Agriculture Performance Dataset</a:t>
            </a:r>
          </a:p>
          <a:p>
            <a:pPr marL="457200" lvl="1" indent="0" algn="l">
              <a:lnSpc>
                <a:spcPct val="150000"/>
              </a:lnSpc>
              <a:buNone/>
            </a:pP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 wrap="square">
            <a:normAutofit/>
          </a:bodyPr>
          <a:lstStyle/>
          <a:p>
            <a:pPr algn="l"/>
            <a:r>
              <a:rPr sz="2500" b="1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 marL="0" indent="0" algn="l">
              <a:buNone/>
            </a:pPr>
            <a:endParaRPr lang="en-IN" dirty="0"/>
          </a:p>
        </p:txBody>
      </p:sp>
      <p:sp>
        <p:nvSpPr>
          <p:cNvPr id="31" name="TextBox 30"/>
          <p:cNvSpPr txBox="1"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dirty="0"/>
              <a:t>RESULTS • Seasonal Performance</a:t>
            </a:r>
          </a:p>
        </p:txBody>
      </p:sp>
      <p:pic>
        <p:nvPicPr>
          <p:cNvPr id="32" name="Picture 31" descr="seasonal_y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25880"/>
            <a:ext cx="4892040" cy="2423160"/>
          </a:xfrm>
          <a:prstGeom prst="rect">
            <a:avLst/>
          </a:prstGeom>
        </p:spPr>
      </p:pic>
      <p:pic>
        <p:nvPicPr>
          <p:cNvPr id="33" name="Picture 32" descr="seasonal_prof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1325880"/>
            <a:ext cx="4892040" cy="2423160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685800" y="3977639"/>
            <a:ext cx="9646920" cy="1005840"/>
          </a:xfrm>
          <a:prstGeom prst="roundRect">
            <a:avLst/>
          </a:prstGeom>
          <a:solidFill>
            <a:srgbClr val="232323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EBEBEB"/>
                </a:solidFill>
                <a:latin typeface="Consolas"/>
              </a:rPr>
              <a:t>df.groupby('Season')['Yield_Tonnes_Ha'].mean()</a:t>
            </a:r>
            <a:br/>
            <a:r>
              <a:rPr sz="1100">
                <a:solidFill>
                  <a:srgbClr val="EBEBEB"/>
                </a:solidFill>
                <a:latin typeface="Consolas"/>
              </a:rPr>
              <a:t>df.groupby('Season')['Profit_INR'].mean()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138928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/>
              <a:t>Key Finding: Kharif recorded the highest average yield and profit; Zaid recorded negative average profit.</a:t>
            </a: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 wrap="square"/>
          <a:lstStyle/>
          <a:p>
            <a:pPr marL="0" indent="0" algn="l">
              <a:buNone/>
            </a:pPr>
            <a:endParaRPr lang="en-IN" dirty="0"/>
          </a:p>
        </p:txBody>
      </p:sp>
      <p:sp>
        <p:nvSpPr>
          <p:cNvPr id="31" name="TextBox 30"/>
          <p:cNvSpPr txBox="1"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dirty="0"/>
              <a:t>RESULTS • Environmental Analysis</a:t>
            </a:r>
          </a:p>
        </p:txBody>
      </p:sp>
      <p:pic>
        <p:nvPicPr>
          <p:cNvPr id="32" name="Picture 31" descr="environment_cor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25880"/>
            <a:ext cx="4892040" cy="242316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486400" y="1463040"/>
            <a:ext cx="46634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/>
              <a:t>Key Observation</a:t>
            </a:r>
            <a:br/>
            <a:br/>
            <a:r>
              <a:rPr sz="1700" b="1"/>
              <a:t>Environmental variables showed very weak linear correlations with crop yield.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3977639"/>
            <a:ext cx="9646920" cy="1005840"/>
          </a:xfrm>
          <a:prstGeom prst="roundRect">
            <a:avLst/>
          </a:prstGeom>
          <a:solidFill>
            <a:srgbClr val="232323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EBEBEB"/>
                </a:solidFill>
                <a:latin typeface="Consolas"/>
              </a:rPr>
              <a:t>df[['Rainfall_mm', 'Avg_Temperature_C', 'Humidity_pct',</a:t>
            </a:r>
            <a:br/>
            <a:r>
              <a:rPr sz="1100">
                <a:solidFill>
                  <a:srgbClr val="EBEBEB"/>
                </a:solidFill>
                <a:latin typeface="Consolas"/>
              </a:rPr>
              <a:t>    'Sunlight_Hours_Day', 'Soil_Moisture_pct',</a:t>
            </a:r>
            <a:br/>
            <a:r>
              <a:rPr sz="1100">
                <a:solidFill>
                  <a:srgbClr val="EBEBEB"/>
                </a:solidFill>
                <a:latin typeface="Consolas"/>
              </a:rPr>
              <a:t>    'Yield_Tonnes_Ha']].corr()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138928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/>
              <a:t>Key Finding: Environmental variables showed very weak linear correlations with crop yield.</a:t>
            </a:r>
          </a:p>
        </p:txBody>
      </p:sp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6E3B1C7-6A8B-23EE-6251-DC1067C6AD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 wrap="square"/>
          <a:lstStyle/>
          <a:p>
            <a:pPr marL="0" indent="0" algn="l">
              <a:buNone/>
            </a:pPr>
            <a:endParaRPr lang="en-IN" dirty="0"/>
          </a:p>
        </p:txBody>
      </p:sp>
      <p:sp>
        <p:nvSpPr>
          <p:cNvPr id="31" name="TextBox 30"/>
          <p:cNvSpPr txBox="1"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dirty="0"/>
              <a:t>RESULTS • Irrigation &amp; Water</a:t>
            </a:r>
          </a:p>
        </p:txBody>
      </p:sp>
      <p:pic>
        <p:nvPicPr>
          <p:cNvPr id="32" name="Picture 31" descr="irrigation_y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25880"/>
            <a:ext cx="4892040" cy="2423160"/>
          </a:xfrm>
          <a:prstGeom prst="rect">
            <a:avLst/>
          </a:prstGeom>
        </p:spPr>
      </p:pic>
      <p:pic>
        <p:nvPicPr>
          <p:cNvPr id="33" name="Picture 32" descr="irrigation_efficienc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1325880"/>
            <a:ext cx="4892040" cy="2423160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685800" y="3977639"/>
            <a:ext cx="9646920" cy="1005840"/>
          </a:xfrm>
          <a:prstGeom prst="roundRect">
            <a:avLst/>
          </a:prstGeom>
          <a:solidFill>
            <a:srgbClr val="232323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EBEBEB"/>
                </a:solidFill>
                <a:latin typeface="Consolas"/>
              </a:rPr>
              <a:t>df.groupby('Irrigation_Method')['Yield_Tonnes_Ha'].mean()</a:t>
            </a:r>
            <a:br/>
            <a:r>
              <a:rPr sz="1100">
                <a:solidFill>
                  <a:srgbClr val="EBEBEB"/>
                </a:solidFill>
                <a:latin typeface="Consolas"/>
              </a:rPr>
              <a:t>df.groupby('Irrigation_Method')['Water_Efficiency_t_per_1000m3'].mean()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138928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/>
              <a:t>Key Finding: Drip showed the highest average yield, while Rainfed showed the highest average water efficiency.</a:t>
            </a:r>
          </a:p>
        </p:txBody>
      </p:sp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2B7B89A1-9444-8322-CADC-42D31D698F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 wrap="square"/>
          <a:lstStyle/>
          <a:p>
            <a:pPr marL="0" indent="0" algn="l">
              <a:buNone/>
            </a:pPr>
            <a:endParaRPr lang="en-IN" dirty="0"/>
          </a:p>
        </p:txBody>
      </p:sp>
      <p:sp>
        <p:nvSpPr>
          <p:cNvPr id="31" name="TextBox 30"/>
          <p:cNvSpPr txBox="1"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/>
              <a:t>RESULTS • Crop Performance</a:t>
            </a:r>
          </a:p>
        </p:txBody>
      </p:sp>
      <p:pic>
        <p:nvPicPr>
          <p:cNvPr id="32" name="Picture 31" descr="crop_y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25880"/>
            <a:ext cx="4892040" cy="2423160"/>
          </a:xfrm>
          <a:prstGeom prst="rect">
            <a:avLst/>
          </a:prstGeom>
        </p:spPr>
      </p:pic>
      <p:pic>
        <p:nvPicPr>
          <p:cNvPr id="33" name="Picture 32" descr="crop_prof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1325880"/>
            <a:ext cx="4892040" cy="2423160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685800" y="3977639"/>
            <a:ext cx="9646920" cy="1005840"/>
          </a:xfrm>
          <a:prstGeom prst="roundRect">
            <a:avLst/>
          </a:prstGeom>
          <a:solidFill>
            <a:srgbClr val="232323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EBEBEB"/>
                </a:solidFill>
                <a:latin typeface="Consolas"/>
              </a:rPr>
              <a:t>df.groupby('Crop')['Yield_Tonnes_Ha'].mean()</a:t>
            </a:r>
            <a:br/>
            <a:r>
              <a:rPr sz="1100">
                <a:solidFill>
                  <a:srgbClr val="EBEBEB"/>
                </a:solidFill>
                <a:latin typeface="Consolas"/>
              </a:rPr>
              <a:t>df.groupby('Crop')['Profit_INR'].mean()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138928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/>
              <a:t>Key Finding: Sugarcane recorded the highest average yield and profit in the dataset.</a:t>
            </a:r>
          </a:p>
        </p:txBody>
      </p:sp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85C769B-425A-FE3B-E47A-3B747985DC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 wrap="square"/>
          <a:lstStyle/>
          <a:p>
            <a:pPr marL="0" indent="0" algn="l">
              <a:buNone/>
            </a:pPr>
            <a:endParaRPr lang="en-IN" dirty="0"/>
          </a:p>
        </p:txBody>
      </p:sp>
      <p:sp>
        <p:nvSpPr>
          <p:cNvPr id="31" name="TextBox 30"/>
          <p:cNvSpPr txBox="1"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dirty="0"/>
              <a:t>RESULTS • Regional Performance</a:t>
            </a:r>
          </a:p>
        </p:txBody>
      </p:sp>
      <p:pic>
        <p:nvPicPr>
          <p:cNvPr id="32" name="Picture 31" descr="state_y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25880"/>
            <a:ext cx="4892040" cy="2423160"/>
          </a:xfrm>
          <a:prstGeom prst="rect">
            <a:avLst/>
          </a:prstGeom>
        </p:spPr>
      </p:pic>
      <p:pic>
        <p:nvPicPr>
          <p:cNvPr id="33" name="Picture 32" descr="state_prof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1325880"/>
            <a:ext cx="4892040" cy="2423160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685800" y="3977639"/>
            <a:ext cx="9646920" cy="1005840"/>
          </a:xfrm>
          <a:prstGeom prst="roundRect">
            <a:avLst/>
          </a:prstGeom>
          <a:solidFill>
            <a:srgbClr val="232323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EBEBEB"/>
                </a:solidFill>
                <a:latin typeface="Consolas"/>
              </a:rPr>
              <a:t>df.groupby('State')['Yield_Tonnes_Ha'].mean()</a:t>
            </a:r>
            <a:br/>
            <a:r>
              <a:rPr sz="1100">
                <a:solidFill>
                  <a:srgbClr val="EBEBEB"/>
                </a:solidFill>
                <a:latin typeface="Consolas"/>
              </a:rPr>
              <a:t>df.groupby('State')['Profit_INR'].mean()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5D48439-9841-687E-89BB-AD6BD75417F5}"/>
              </a:ext>
            </a:extLst>
          </p:cNvPr>
          <p:cNvSpPr>
            <a:spLocks/>
          </p:cNvSpPr>
          <p:nvPr>
            <p:ph type="title"/>
          </p:nvPr>
        </p:nvSpPr>
        <p:spPr>
          <a:xfrm>
            <a:off x="998982" y="5070515"/>
            <a:ext cx="9297549" cy="355792"/>
          </a:xfrm>
        </p:spPr>
        <p:txBody>
          <a:bodyPr>
            <a:noAutofit/>
          </a:bodyPr>
          <a:lstStyle/>
          <a:p>
            <a:r>
              <a:rPr lang="en-US" sz="1000" dirty="0"/>
              <a:t>Key Finding: Punjab recorded the highest average yield and was among the highest-profit states.</a:t>
            </a:r>
            <a:br>
              <a:rPr lang="en-US" sz="1000" dirty="0"/>
            </a:br>
            <a:endParaRPr lang="en-IN" sz="1000" b="0" dirty="0"/>
          </a:p>
        </p:txBody>
      </p:sp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 wrap="square">
            <a:normAutofit/>
          </a:bodyPr>
          <a:lstStyle/>
          <a:p>
            <a:pPr algn="l"/>
            <a:r>
              <a:rPr sz="2500" b="1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4" name="TextBox 23"/>
          <p:cNvSpPr txBox="1"/>
          <p:nvPr/>
        </p:nvSpPr>
        <p:spPr>
          <a:xfrm>
            <a:off x="759125" y="1417320"/>
            <a:ext cx="5952226" cy="3426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sz="1900" dirty="0"/>
              <a:t>Develop interactive dashboards for seasonal agricultural monitoring.</a:t>
            </a:r>
            <a:endParaRPr lang="en-IN" sz="1900" dirty="0"/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sz="1900" dirty="0"/>
              <a:t>Use larger and more diverse datasets to validate the observed patterns.</a:t>
            </a:r>
            <a:endParaRPr lang="en-IN" sz="1900" dirty="0"/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sz="1900" dirty="0"/>
              <a:t>Apply predictive models to estimate yield and profitability.</a:t>
            </a:r>
            <a:endParaRPr lang="en-IN" sz="1900" dirty="0"/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sz="1900" dirty="0"/>
              <a:t>Integrate real-time weather and soil data for improved seasonal planning.</a:t>
            </a:r>
            <a:endParaRPr lang="en-IN" sz="1900" dirty="0"/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sz="1900" dirty="0"/>
              <a:t>Develop crop-specific recommendations using additional agricultural information.</a:t>
            </a: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 wrap="square">
            <a:normAutofit/>
          </a:bodyPr>
          <a:lstStyle/>
          <a:p>
            <a:pPr algn="l"/>
            <a:r>
              <a:rPr sz="2500" b="1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4" name="TextBox 23"/>
          <p:cNvSpPr txBox="1"/>
          <p:nvPr/>
        </p:nvSpPr>
        <p:spPr>
          <a:xfrm>
            <a:off x="914400" y="1417320"/>
            <a:ext cx="9144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dirty="0"/>
              <a:t>GitHub Repository</a:t>
            </a:r>
            <a:br>
              <a:rPr dirty="0"/>
            </a:br>
            <a:br>
              <a:rPr dirty="0"/>
            </a:br>
            <a:r>
              <a:rPr sz="1800" b="0" dirty="0"/>
              <a:t>[</a:t>
            </a:r>
            <a:r>
              <a:rPr lang="en-IN" dirty="0"/>
              <a:t>https://github.com/me-AlB-i/Seasonal-Agriculture-Performance-Analysis-</a:t>
            </a:r>
            <a:r>
              <a:rPr sz="1800" b="0" dirty="0"/>
              <a:t>]</a:t>
            </a:r>
            <a:br>
              <a:rPr dirty="0"/>
            </a:br>
            <a:br>
              <a:rPr dirty="0"/>
            </a:br>
            <a:r>
              <a:rPr sz="1800" b="0" dirty="0"/>
              <a:t>Recommended contents:</a:t>
            </a:r>
            <a:br>
              <a:rPr dirty="0"/>
            </a:br>
            <a:r>
              <a:rPr sz="1800" b="0" dirty="0"/>
              <a:t>• </a:t>
            </a:r>
            <a:r>
              <a:rPr sz="1800" b="0" dirty="0" err="1"/>
              <a:t>Colab</a:t>
            </a:r>
            <a:r>
              <a:rPr sz="1800" b="0" dirty="0"/>
              <a:t>/Jupyter notebook</a:t>
            </a:r>
            <a:br>
              <a:rPr dirty="0"/>
            </a:br>
            <a:r>
              <a:rPr sz="1800" b="0" dirty="0"/>
              <a:t>• README</a:t>
            </a:r>
            <a:br>
              <a:rPr dirty="0"/>
            </a:br>
            <a:r>
              <a:rPr sz="1800" b="0" dirty="0"/>
              <a:t>• Project presentation</a:t>
            </a:r>
            <a:br>
              <a:rPr dirty="0"/>
            </a:br>
            <a:r>
              <a:rPr sz="1800" b="0" dirty="0"/>
              <a:t>• Dataset reference</a:t>
            </a:r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 wrap="square">
            <a:normAutofit/>
          </a:bodyPr>
          <a:lstStyle/>
          <a:p>
            <a:pPr algn="l"/>
            <a:r>
              <a:rPr sz="2400" b="1"/>
              <a:t>VOIS Course Completion Certificate</a:t>
            </a:r>
            <a:br/>
            <a:r>
              <a:rPr sz="2400" b="1"/>
              <a:t>Course: Data Visualization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5229C5-E2DA-5BCB-80D1-7B5A51B074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700" y="1207463"/>
            <a:ext cx="7494550" cy="5360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ctr"/>
            <a:r>
              <a:rPr sz="3200" b="1" dirty="0"/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5013" y="3962573"/>
            <a:ext cx="4693870" cy="344312"/>
          </a:xfrm>
        </p:spPr>
        <p:txBody>
          <a:bodyPr>
            <a:normAutofit fontScale="92500" lnSpcReduction="2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590</TotalTime>
  <Words>643</Words>
  <Application>Microsoft Office PowerPoint</Application>
  <PresentationFormat>Widescreen</PresentationFormat>
  <Paragraphs>60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Consolas</vt:lpstr>
      <vt:lpstr>Trebuchet MS</vt:lpstr>
      <vt:lpstr>Wingdings</vt:lpstr>
      <vt:lpstr>Wingdings 3</vt:lpstr>
      <vt:lpstr>Facet</vt:lpstr>
      <vt:lpstr>Seasonal Agriculture Performance Analysis</vt:lpstr>
      <vt:lpstr>PROBLEM STATEMENT</vt:lpstr>
      <vt:lpstr>PROJECT DESCRIPTION  </vt:lpstr>
      <vt:lpstr>WHO ARE THE END USERS?</vt:lpstr>
      <vt:lpstr>TECHNOLOGY USED</vt:lpstr>
      <vt:lpstr> </vt:lpstr>
      <vt:lpstr> </vt:lpstr>
      <vt:lpstr> </vt:lpstr>
      <vt:lpstr> </vt:lpstr>
      <vt:lpstr>Key Finding: Punjab recorded the highest average yield and was among the highest-profit states. </vt:lpstr>
      <vt:lpstr>Future Scope</vt:lpstr>
      <vt:lpstr>GitHub Link</vt:lpstr>
      <vt:lpstr>VOIS Course Completion Certificate Course: Data Visualization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AlBi JOse</cp:lastModifiedBy>
  <cp:revision>98</cp:revision>
  <dcterms:created xsi:type="dcterms:W3CDTF">2021-07-11T13:13:15Z</dcterms:created>
  <dcterms:modified xsi:type="dcterms:W3CDTF">2026-09-05T07:43:54Z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